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019dec49-207b-777f-bc29-691753f69c44.claudeusercontent.com/v1/design/projects/019dec49-207b-777f-bc29-691753f69c44/serve/portable-02-components/index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/>
          <p:nvPr/>
        </p:nvSpPr>
        <p:spPr>
          <a:xfrm>
            <a:off x="733425" y="733425"/>
            <a:ext cx="682823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b="1" u="sng" spc="15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◧ TOOLSKIN</a:t>
            </a:r>
            <a:endParaRPr lang="en-US" sz="770" dirty="0"/>
          </a:p>
        </p:txBody>
      </p:sp>
      <p:sp>
        <p:nvSpPr>
          <p:cNvPr id="3" name="Text 1"/>
          <p:cNvSpPr/>
          <p:nvPr/>
        </p:nvSpPr>
        <p:spPr>
          <a:xfrm>
            <a:off x="1416248" y="733425"/>
            <a:ext cx="134987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770" dirty="0"/>
          </a:p>
        </p:txBody>
      </p:sp>
      <p:sp>
        <p:nvSpPr>
          <p:cNvPr id="4" name="Text 2"/>
          <p:cNvSpPr/>
          <p:nvPr/>
        </p:nvSpPr>
        <p:spPr>
          <a:xfrm>
            <a:off x="1627436" y="733425"/>
            <a:ext cx="19362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770" dirty="0"/>
          </a:p>
        </p:txBody>
      </p:sp>
      <p:sp>
        <p:nvSpPr>
          <p:cNvPr id="5" name="Text 3"/>
          <p:cNvSpPr/>
          <p:nvPr/>
        </p:nvSpPr>
        <p:spPr>
          <a:xfrm>
            <a:off x="1782961" y="742950"/>
            <a:ext cx="369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770" dirty="0"/>
          </a:p>
        </p:txBody>
      </p:sp>
      <p:sp>
        <p:nvSpPr>
          <p:cNvPr id="6" name="Text 4"/>
          <p:cNvSpPr/>
          <p:nvPr/>
        </p:nvSpPr>
        <p:spPr>
          <a:xfrm>
            <a:off x="2305199" y="733425"/>
            <a:ext cx="19362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2460724" y="742950"/>
            <a:ext cx="3110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2924175" y="733425"/>
            <a:ext cx="19362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3079700" y="742950"/>
            <a:ext cx="4872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3719364" y="733425"/>
            <a:ext cx="19362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3874889" y="742950"/>
            <a:ext cx="780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chip · badge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4808041" y="733425"/>
            <a:ext cx="19362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4963567" y="742950"/>
            <a:ext cx="10742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· accordion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6190208" y="733425"/>
            <a:ext cx="19362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6345734" y="742950"/>
            <a:ext cx="9568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 · overlay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7454950" y="733425"/>
            <a:ext cx="19362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7610475" y="742950"/>
            <a:ext cx="780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topbar · nav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609600" y="1222623"/>
            <a:ext cx="10320909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7" spc="-4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00 — index</a:t>
            </a:r>
            <a:endParaRPr lang="en-US" sz="867" dirty="0"/>
          </a:p>
        </p:txBody>
      </p:sp>
      <p:sp>
        <p:nvSpPr>
          <p:cNvPr id="19" name="Text 17"/>
          <p:cNvSpPr/>
          <p:nvPr/>
        </p:nvSpPr>
        <p:spPr>
          <a:xfrm>
            <a:off x="609600" y="1376809"/>
            <a:ext cx="10320909" cy="315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62" b="1" spc="-2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Toolskin · component verification harnesses</a:t>
            </a:r>
            <a:endParaRPr lang="en-US" sz="1562" dirty="0"/>
          </a:p>
        </p:txBody>
      </p:sp>
      <p:sp>
        <p:nvSpPr>
          <p:cNvPr id="20" name="Text 18"/>
          <p:cNvSpPr/>
          <p:nvPr/>
        </p:nvSpPr>
        <p:spPr>
          <a:xfrm>
            <a:off x="609600" y="1806922"/>
            <a:ext cx="5238021" cy="13177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Self-contained portable copy of the Phase 2 component sandbox. Each tile opens a verification harness for one component family. All CSS, tokens, and engine layers ship inside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only Google Fonts is fetched from the web. Every harness shares one scaffold (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assets/css/next/harness.css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and the same live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Tester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(bottom-right) for cross-validating surfaces, gradients, accents, type, radius, and inputs.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9625" y="3591371"/>
            <a:ext cx="2923604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7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01</a:t>
            </a:r>
            <a:endParaRPr lang="en-US" sz="867" dirty="0"/>
          </a:p>
        </p:txBody>
      </p:sp>
      <p:sp>
        <p:nvSpPr>
          <p:cNvPr id="22" name="Text 20"/>
          <p:cNvSpPr/>
          <p:nvPr/>
        </p:nvSpPr>
        <p:spPr>
          <a:xfrm>
            <a:off x="809625" y="3821757"/>
            <a:ext cx="2923604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70" spc="-1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ts-input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809625" y="4105870"/>
            <a:ext cx="2923604" cy="360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inputs, textarea, select, groups — state matrix &amp; density variants.</a:t>
            </a:r>
            <a:endParaRPr lang="en-US" sz="907" dirty="0"/>
          </a:p>
        </p:txBody>
      </p:sp>
      <p:sp>
        <p:nvSpPr>
          <p:cNvPr id="24" name="Text 22"/>
          <p:cNvSpPr/>
          <p:nvPr/>
        </p:nvSpPr>
        <p:spPr>
          <a:xfrm>
            <a:off x="4200525" y="3591371"/>
            <a:ext cx="2923604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7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02</a:t>
            </a:r>
            <a:endParaRPr lang="en-US" sz="867" dirty="0"/>
          </a:p>
        </p:txBody>
      </p:sp>
      <p:sp>
        <p:nvSpPr>
          <p:cNvPr id="25" name="Text 23"/>
          <p:cNvSpPr/>
          <p:nvPr/>
        </p:nvSpPr>
        <p:spPr>
          <a:xfrm>
            <a:off x="4200525" y="3821757"/>
            <a:ext cx="2923604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70" spc="-1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ts-card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4200525" y="4105870"/>
            <a:ext cx="2923604" cy="360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surfaces with media, eyebrow, body, footer slots and accent / gradient variants.</a:t>
            </a:r>
            <a:endParaRPr lang="en-US" sz="907" dirty="0"/>
          </a:p>
        </p:txBody>
      </p:sp>
      <p:sp>
        <p:nvSpPr>
          <p:cNvPr id="27" name="Text 25"/>
          <p:cNvSpPr/>
          <p:nvPr/>
        </p:nvSpPr>
        <p:spPr>
          <a:xfrm>
            <a:off x="7591425" y="3591371"/>
            <a:ext cx="2923604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7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03</a:t>
            </a:r>
            <a:endParaRPr lang="en-US" sz="867" dirty="0"/>
          </a:p>
        </p:txBody>
      </p:sp>
      <p:sp>
        <p:nvSpPr>
          <p:cNvPr id="28" name="Text 26"/>
          <p:cNvSpPr/>
          <p:nvPr/>
        </p:nvSpPr>
        <p:spPr>
          <a:xfrm>
            <a:off x="7591425" y="3821757"/>
            <a:ext cx="2923604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70" spc="-1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ts-section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7591425" y="4105870"/>
            <a:ext cx="2923604" cy="360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containers — alternating surfaces, dividers, density rhythm.</a:t>
            </a:r>
            <a:endParaRPr lang="en-US" sz="907" dirty="0"/>
          </a:p>
        </p:txBody>
      </p:sp>
      <p:sp>
        <p:nvSpPr>
          <p:cNvPr id="30" name="Text 28"/>
          <p:cNvSpPr/>
          <p:nvPr/>
        </p:nvSpPr>
        <p:spPr>
          <a:xfrm>
            <a:off x="809625" y="4980682"/>
            <a:ext cx="2923604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7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04</a:t>
            </a:r>
            <a:endParaRPr lang="en-US" sz="867" dirty="0"/>
          </a:p>
        </p:txBody>
      </p:sp>
      <p:sp>
        <p:nvSpPr>
          <p:cNvPr id="31" name="Text 29"/>
          <p:cNvSpPr/>
          <p:nvPr/>
        </p:nvSpPr>
        <p:spPr>
          <a:xfrm>
            <a:off x="809625" y="5211068"/>
            <a:ext cx="2923604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70" spc="-1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ts-chip &amp; ts-badge</a:t>
            </a:r>
            <a:endParaRPr lang="en-US" sz="1170" dirty="0"/>
          </a:p>
        </p:txBody>
      </p:sp>
      <p:sp>
        <p:nvSpPr>
          <p:cNvPr id="32" name="Text 30"/>
          <p:cNvSpPr/>
          <p:nvPr/>
        </p:nvSpPr>
        <p:spPr>
          <a:xfrm>
            <a:off x="809625" y="5495181"/>
            <a:ext cx="2923604" cy="199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tints, interactive chips, dot/count badges.</a:t>
            </a:r>
            <a:endParaRPr lang="en-US" sz="907" dirty="0"/>
          </a:p>
        </p:txBody>
      </p:sp>
      <p:sp>
        <p:nvSpPr>
          <p:cNvPr id="33" name="Text 31"/>
          <p:cNvSpPr/>
          <p:nvPr/>
        </p:nvSpPr>
        <p:spPr>
          <a:xfrm>
            <a:off x="4200525" y="4961632"/>
            <a:ext cx="2923604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7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05</a:t>
            </a:r>
            <a:endParaRPr lang="en-US" sz="867" dirty="0"/>
          </a:p>
        </p:txBody>
      </p:sp>
      <p:sp>
        <p:nvSpPr>
          <p:cNvPr id="34" name="Text 32"/>
          <p:cNvSpPr/>
          <p:nvPr/>
        </p:nvSpPr>
        <p:spPr>
          <a:xfrm>
            <a:off x="4200525" y="5192018"/>
            <a:ext cx="2923604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70" spc="-1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ts-table &amp; ts-accordion</a:t>
            </a:r>
            <a:endParaRPr lang="en-US" sz="1170" dirty="0"/>
          </a:p>
        </p:txBody>
      </p:sp>
      <p:sp>
        <p:nvSpPr>
          <p:cNvPr id="35" name="Text 33"/>
          <p:cNvSpPr/>
          <p:nvPr/>
        </p:nvSpPr>
        <p:spPr>
          <a:xfrm>
            <a:off x="4200525" y="5476131"/>
            <a:ext cx="2923604" cy="360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tables with zebra/hover; accordion disclosure patterns.</a:t>
            </a:r>
            <a:endParaRPr lang="en-US" sz="907" dirty="0"/>
          </a:p>
        </p:txBody>
      </p:sp>
      <p:sp>
        <p:nvSpPr>
          <p:cNvPr id="36" name="Text 34"/>
          <p:cNvSpPr/>
          <p:nvPr/>
        </p:nvSpPr>
        <p:spPr>
          <a:xfrm>
            <a:off x="7591425" y="4980682"/>
            <a:ext cx="2923604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7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06</a:t>
            </a:r>
            <a:endParaRPr lang="en-US" sz="867" dirty="0"/>
          </a:p>
        </p:txBody>
      </p:sp>
      <p:sp>
        <p:nvSpPr>
          <p:cNvPr id="37" name="Text 35"/>
          <p:cNvSpPr/>
          <p:nvPr/>
        </p:nvSpPr>
        <p:spPr>
          <a:xfrm>
            <a:off x="7591425" y="5211068"/>
            <a:ext cx="2923604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70" spc="-1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ts-modal &amp; overlays</a:t>
            </a:r>
            <a:endParaRPr lang="en-US" sz="1170" dirty="0"/>
          </a:p>
        </p:txBody>
      </p:sp>
      <p:sp>
        <p:nvSpPr>
          <p:cNvPr id="38" name="Text 36"/>
          <p:cNvSpPr/>
          <p:nvPr/>
        </p:nvSpPr>
        <p:spPr>
          <a:xfrm>
            <a:off x="7591425" y="5495181"/>
            <a:ext cx="2923604" cy="360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Dialogs, drawers, sheets — focus traps and scrim layers.</a:t>
            </a:r>
            <a:endParaRPr lang="en-US" sz="907" dirty="0"/>
          </a:p>
        </p:txBody>
      </p:sp>
      <p:sp>
        <p:nvSpPr>
          <p:cNvPr id="39" name="Text 37"/>
          <p:cNvSpPr/>
          <p:nvPr/>
        </p:nvSpPr>
        <p:spPr>
          <a:xfrm>
            <a:off x="809625" y="6369993"/>
            <a:ext cx="2923604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7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07</a:t>
            </a:r>
            <a:endParaRPr lang="en-US" sz="867" dirty="0"/>
          </a:p>
        </p:txBody>
      </p:sp>
      <p:sp>
        <p:nvSpPr>
          <p:cNvPr id="40" name="Text 38"/>
          <p:cNvSpPr/>
          <p:nvPr/>
        </p:nvSpPr>
        <p:spPr>
          <a:xfrm>
            <a:off x="809625" y="6600379"/>
            <a:ext cx="2923604" cy="246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70" spc="-1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ts-topbar &amp; ts-nav</a:t>
            </a:r>
            <a:endParaRPr lang="en-US" sz="1170" dirty="0"/>
          </a:p>
        </p:txBody>
      </p:sp>
      <p:sp>
        <p:nvSpPr>
          <p:cNvPr id="41" name="Text 39"/>
          <p:cNvSpPr/>
          <p:nvPr/>
        </p:nvSpPr>
        <p:spPr>
          <a:xfrm>
            <a:off x="809625" y="6884491"/>
            <a:ext cx="2923604" cy="360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shells — sticky topbar, brand mark, primary nav, CTA slot.</a:t>
            </a:r>
            <a:endParaRPr lang="en-US" sz="907" dirty="0"/>
          </a:p>
        </p:txBody>
      </p:sp>
      <p:sp>
        <p:nvSpPr>
          <p:cNvPr id="42" name="Text 40"/>
          <p:cNvSpPr/>
          <p:nvPr/>
        </p:nvSpPr>
        <p:spPr>
          <a:xfrm>
            <a:off x="609600" y="8102203"/>
            <a:ext cx="10320909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7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Bundle: 7 harnesses · shared harness.css scaffold · live Variant Tester · token-driven.</a:t>
            </a:r>
            <a:endParaRPr lang="en-US" sz="867" dirty="0"/>
          </a:p>
        </p:txBody>
      </p:sp>
      <p:sp>
        <p:nvSpPr>
          <p:cNvPr id="43" name="Shape 41"/>
          <p:cNvSpPr/>
          <p:nvPr/>
        </p:nvSpPr>
        <p:spPr>
          <a:xfrm>
            <a:off x="10158413" y="716459"/>
            <a:ext cx="3048000" cy="7074991"/>
          </a:xfrm>
          <a:prstGeom prst="roundRect">
            <a:avLst>
              <a:gd name="adj" fmla="val 4375"/>
            </a:avLst>
          </a:prstGeom>
          <a:ln/>
          <a:effectLst>
            <a:outerShdw sx="100000" sy="100000" kx="0" ky="0" algn="bl" rotWithShape="0" blurRad="457200" dist="152400" dir="54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320338" y="840284"/>
            <a:ext cx="1273522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7" spc="69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◧ VARIANT TESTER</a:t>
            </a:r>
            <a:endParaRPr lang="en-US" sz="867" dirty="0"/>
          </a:p>
        </p:txBody>
      </p:sp>
      <p:sp>
        <p:nvSpPr>
          <p:cNvPr id="45" name="Text 43"/>
          <p:cNvSpPr/>
          <p:nvPr/>
        </p:nvSpPr>
        <p:spPr>
          <a:xfrm>
            <a:off x="12942987" y="845939"/>
            <a:ext cx="1396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7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▾</a:t>
            </a:r>
            <a:endParaRPr lang="en-US" sz="907" dirty="0"/>
          </a:p>
        </p:txBody>
      </p:sp>
      <p:sp>
        <p:nvSpPr>
          <p:cNvPr id="46" name="Text 44"/>
          <p:cNvSpPr/>
          <p:nvPr/>
        </p:nvSpPr>
        <p:spPr>
          <a:xfrm>
            <a:off x="10320338" y="1270695"/>
            <a:ext cx="280587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spc="6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 PRESET</a:t>
            </a:r>
            <a:endParaRPr lang="en-US" sz="770" dirty="0"/>
          </a:p>
        </p:txBody>
      </p:sp>
      <p:sp>
        <p:nvSpPr>
          <p:cNvPr id="47" name="Shape 45"/>
          <p:cNvSpPr/>
          <p:nvPr/>
        </p:nvSpPr>
        <p:spPr>
          <a:xfrm>
            <a:off x="10320338" y="1483668"/>
            <a:ext cx="406301" cy="209550"/>
          </a:xfrm>
          <a:prstGeom prst="roundRect">
            <a:avLst>
              <a:gd name="adj" fmla="val 22727"/>
            </a:avLst>
          </a:prstGeom>
          <a:solidFill>
            <a:srgbClr val="FF5500"/>
          </a:solidFill>
          <a:ln w="9525">
            <a:solidFill>
              <a:srgbClr val="FF55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67963" y="1531293"/>
            <a:ext cx="3110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</a:t>
            </a:r>
            <a:endParaRPr lang="en-US" sz="770" dirty="0"/>
          </a:p>
        </p:txBody>
      </p:sp>
      <p:sp>
        <p:nvSpPr>
          <p:cNvPr id="49" name="Text 47"/>
          <p:cNvSpPr/>
          <p:nvPr/>
        </p:nvSpPr>
        <p:spPr>
          <a:xfrm>
            <a:off x="10812363" y="1531293"/>
            <a:ext cx="36983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</a:t>
            </a:r>
            <a:endParaRPr lang="en-US" sz="770" dirty="0"/>
          </a:p>
        </p:txBody>
      </p:sp>
      <p:sp>
        <p:nvSpPr>
          <p:cNvPr id="50" name="Text 48"/>
          <p:cNvSpPr/>
          <p:nvPr/>
        </p:nvSpPr>
        <p:spPr>
          <a:xfrm>
            <a:off x="11315551" y="1531293"/>
            <a:ext cx="3110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</a:t>
            </a:r>
            <a:endParaRPr lang="en-US" sz="770" dirty="0"/>
          </a:p>
        </p:txBody>
      </p:sp>
      <p:sp>
        <p:nvSpPr>
          <p:cNvPr id="51" name="Text 49"/>
          <p:cNvSpPr/>
          <p:nvPr/>
        </p:nvSpPr>
        <p:spPr>
          <a:xfrm>
            <a:off x="11759952" y="1531293"/>
            <a:ext cx="3110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10320338" y="1845618"/>
            <a:ext cx="280587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spc="6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ACCENT</a:t>
            </a:r>
            <a:endParaRPr lang="en-US" sz="770" dirty="0"/>
          </a:p>
        </p:txBody>
      </p:sp>
      <p:sp>
        <p:nvSpPr>
          <p:cNvPr id="53" name="Shape 51"/>
          <p:cNvSpPr/>
          <p:nvPr/>
        </p:nvSpPr>
        <p:spPr>
          <a:xfrm>
            <a:off x="10320338" y="2058591"/>
            <a:ext cx="230237" cy="209550"/>
          </a:xfrm>
          <a:prstGeom prst="roundRect">
            <a:avLst>
              <a:gd name="adj" fmla="val 22727"/>
            </a:avLst>
          </a:prstGeom>
          <a:solidFill>
            <a:srgbClr val="FF5500"/>
          </a:solidFill>
          <a:ln w="9525">
            <a:solidFill>
              <a:srgbClr val="FF55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367963" y="2106216"/>
            <a:ext cx="13498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FF5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770" dirty="0"/>
          </a:p>
        </p:txBody>
      </p:sp>
      <p:sp>
        <p:nvSpPr>
          <p:cNvPr id="55" name="Text 53"/>
          <p:cNvSpPr/>
          <p:nvPr/>
        </p:nvSpPr>
        <p:spPr>
          <a:xfrm>
            <a:off x="10636300" y="2106216"/>
            <a:ext cx="13498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770" dirty="0"/>
          </a:p>
        </p:txBody>
      </p:sp>
      <p:sp>
        <p:nvSpPr>
          <p:cNvPr id="56" name="Text 54"/>
          <p:cNvSpPr/>
          <p:nvPr/>
        </p:nvSpPr>
        <p:spPr>
          <a:xfrm>
            <a:off x="10904637" y="2106216"/>
            <a:ext cx="13498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770" dirty="0"/>
          </a:p>
        </p:txBody>
      </p:sp>
      <p:sp>
        <p:nvSpPr>
          <p:cNvPr id="57" name="Text 55"/>
          <p:cNvSpPr/>
          <p:nvPr/>
        </p:nvSpPr>
        <p:spPr>
          <a:xfrm>
            <a:off x="11172974" y="2106216"/>
            <a:ext cx="13498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770" dirty="0"/>
          </a:p>
        </p:txBody>
      </p:sp>
      <p:sp>
        <p:nvSpPr>
          <p:cNvPr id="58" name="Text 56"/>
          <p:cNvSpPr/>
          <p:nvPr/>
        </p:nvSpPr>
        <p:spPr>
          <a:xfrm>
            <a:off x="11441311" y="2106216"/>
            <a:ext cx="13498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770" dirty="0"/>
          </a:p>
        </p:txBody>
      </p:sp>
      <p:sp>
        <p:nvSpPr>
          <p:cNvPr id="59" name="Text 57"/>
          <p:cNvSpPr/>
          <p:nvPr/>
        </p:nvSpPr>
        <p:spPr>
          <a:xfrm>
            <a:off x="11709648" y="2106216"/>
            <a:ext cx="13498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770" dirty="0"/>
          </a:p>
        </p:txBody>
      </p:sp>
      <p:sp>
        <p:nvSpPr>
          <p:cNvPr id="60" name="Text 58"/>
          <p:cNvSpPr/>
          <p:nvPr/>
        </p:nvSpPr>
        <p:spPr>
          <a:xfrm>
            <a:off x="10320338" y="2420541"/>
            <a:ext cx="280587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spc="6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FONT</a:t>
            </a:r>
            <a:endParaRPr lang="en-US" sz="770" dirty="0"/>
          </a:p>
        </p:txBody>
      </p:sp>
      <p:sp>
        <p:nvSpPr>
          <p:cNvPr id="61" name="Shape 59"/>
          <p:cNvSpPr/>
          <p:nvPr/>
        </p:nvSpPr>
        <p:spPr>
          <a:xfrm>
            <a:off x="10320338" y="2633514"/>
            <a:ext cx="582513" cy="209550"/>
          </a:xfrm>
          <a:prstGeom prst="roundRect">
            <a:avLst>
              <a:gd name="adj" fmla="val 22727"/>
            </a:avLst>
          </a:prstGeom>
          <a:solidFill>
            <a:srgbClr val="FF5500"/>
          </a:solidFill>
          <a:ln w="9525">
            <a:solidFill>
              <a:srgbClr val="FF55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367963" y="2681139"/>
            <a:ext cx="4872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Grotesk</a:t>
            </a:r>
            <a:endParaRPr lang="en-US" sz="770" dirty="0"/>
          </a:p>
        </p:txBody>
      </p:sp>
      <p:sp>
        <p:nvSpPr>
          <p:cNvPr id="63" name="Text 61"/>
          <p:cNvSpPr/>
          <p:nvPr/>
        </p:nvSpPr>
        <p:spPr>
          <a:xfrm>
            <a:off x="10988576" y="2681139"/>
            <a:ext cx="3110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</a:t>
            </a:r>
            <a:endParaRPr lang="en-US" sz="770" dirty="0"/>
          </a:p>
        </p:txBody>
      </p:sp>
      <p:sp>
        <p:nvSpPr>
          <p:cNvPr id="64" name="Text 62"/>
          <p:cNvSpPr/>
          <p:nvPr/>
        </p:nvSpPr>
        <p:spPr>
          <a:xfrm>
            <a:off x="11432977" y="2681139"/>
            <a:ext cx="4284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770" dirty="0"/>
          </a:p>
        </p:txBody>
      </p:sp>
      <p:sp>
        <p:nvSpPr>
          <p:cNvPr id="65" name="Text 63"/>
          <p:cNvSpPr/>
          <p:nvPr/>
        </p:nvSpPr>
        <p:spPr>
          <a:xfrm>
            <a:off x="10320338" y="2995464"/>
            <a:ext cx="280587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spc="6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SCALE</a:t>
            </a:r>
            <a:endParaRPr lang="en-US" sz="770" dirty="0"/>
          </a:p>
        </p:txBody>
      </p:sp>
      <p:sp>
        <p:nvSpPr>
          <p:cNvPr id="66" name="Shape 64"/>
          <p:cNvSpPr/>
          <p:nvPr/>
        </p:nvSpPr>
        <p:spPr>
          <a:xfrm>
            <a:off x="10320338" y="3208437"/>
            <a:ext cx="2354312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12674650" y="3216176"/>
            <a:ext cx="369838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1.00×</a:t>
            </a:r>
            <a:endParaRPr lang="en-US" sz="770" dirty="0"/>
          </a:p>
        </p:txBody>
      </p:sp>
      <p:sp>
        <p:nvSpPr>
          <p:cNvPr id="68" name="Text 66"/>
          <p:cNvSpPr/>
          <p:nvPr/>
        </p:nvSpPr>
        <p:spPr>
          <a:xfrm>
            <a:off x="10320338" y="3513237"/>
            <a:ext cx="280587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spc="6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RADIUS BASE</a:t>
            </a:r>
            <a:endParaRPr lang="en-US" sz="770" dirty="0"/>
          </a:p>
        </p:txBody>
      </p:sp>
      <p:sp>
        <p:nvSpPr>
          <p:cNvPr id="69" name="Shape 67"/>
          <p:cNvSpPr/>
          <p:nvPr/>
        </p:nvSpPr>
        <p:spPr>
          <a:xfrm>
            <a:off x="10320338" y="3726210"/>
            <a:ext cx="2413099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12733437" y="3733949"/>
            <a:ext cx="311051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10px</a:t>
            </a:r>
            <a:endParaRPr lang="en-US" sz="770" dirty="0"/>
          </a:p>
        </p:txBody>
      </p:sp>
      <p:sp>
        <p:nvSpPr>
          <p:cNvPr id="71" name="Text 69"/>
          <p:cNvSpPr/>
          <p:nvPr/>
        </p:nvSpPr>
        <p:spPr>
          <a:xfrm>
            <a:off x="10320338" y="4031010"/>
            <a:ext cx="280587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spc="6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 PEAK</a:t>
            </a:r>
            <a:endParaRPr lang="en-US" sz="770" dirty="0"/>
          </a:p>
        </p:txBody>
      </p:sp>
      <p:sp>
        <p:nvSpPr>
          <p:cNvPr id="72" name="Shape 70"/>
          <p:cNvSpPr/>
          <p:nvPr/>
        </p:nvSpPr>
        <p:spPr>
          <a:xfrm>
            <a:off x="10320338" y="4243983"/>
            <a:ext cx="2413099" cy="15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12733437" y="4251722"/>
            <a:ext cx="311051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0.55</a:t>
            </a:r>
            <a:endParaRPr lang="en-US" sz="770" dirty="0"/>
          </a:p>
        </p:txBody>
      </p:sp>
      <p:sp>
        <p:nvSpPr>
          <p:cNvPr id="74" name="Text 72"/>
          <p:cNvSpPr/>
          <p:nvPr/>
        </p:nvSpPr>
        <p:spPr>
          <a:xfrm>
            <a:off x="10320338" y="4548783"/>
            <a:ext cx="280587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spc="6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SPECIMEN SURFACE</a:t>
            </a:r>
            <a:endParaRPr lang="en-US" sz="770" dirty="0"/>
          </a:p>
        </p:txBody>
      </p:sp>
      <p:sp>
        <p:nvSpPr>
          <p:cNvPr id="75" name="Shape 73"/>
          <p:cNvSpPr/>
          <p:nvPr/>
        </p:nvSpPr>
        <p:spPr>
          <a:xfrm>
            <a:off x="10320338" y="4761756"/>
            <a:ext cx="523726" cy="209550"/>
          </a:xfrm>
          <a:prstGeom prst="roundRect">
            <a:avLst>
              <a:gd name="adj" fmla="val 22727"/>
            </a:avLst>
          </a:prstGeom>
          <a:solidFill>
            <a:srgbClr val="FF5500"/>
          </a:solidFill>
          <a:ln w="9525">
            <a:solidFill>
              <a:srgbClr val="FF55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367963" y="4809381"/>
            <a:ext cx="4284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anchor</a:t>
            </a:r>
            <a:endParaRPr lang="en-US" sz="770" dirty="0"/>
          </a:p>
        </p:txBody>
      </p:sp>
      <p:sp>
        <p:nvSpPr>
          <p:cNvPr id="77" name="Text 75"/>
          <p:cNvSpPr/>
          <p:nvPr/>
        </p:nvSpPr>
        <p:spPr>
          <a:xfrm>
            <a:off x="10929789" y="4809381"/>
            <a:ext cx="3110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770" dirty="0"/>
          </a:p>
        </p:txBody>
      </p:sp>
      <p:sp>
        <p:nvSpPr>
          <p:cNvPr id="78" name="Text 76"/>
          <p:cNvSpPr/>
          <p:nvPr/>
        </p:nvSpPr>
        <p:spPr>
          <a:xfrm>
            <a:off x="11374189" y="4809381"/>
            <a:ext cx="3110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bg-1</a:t>
            </a:r>
            <a:endParaRPr lang="en-US" sz="770" dirty="0"/>
          </a:p>
        </p:txBody>
      </p:sp>
      <p:sp>
        <p:nvSpPr>
          <p:cNvPr id="79" name="Text 77"/>
          <p:cNvSpPr/>
          <p:nvPr/>
        </p:nvSpPr>
        <p:spPr>
          <a:xfrm>
            <a:off x="11818590" y="4809381"/>
            <a:ext cx="3110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bg-2</a:t>
            </a:r>
            <a:endParaRPr lang="en-US" sz="770" dirty="0"/>
          </a:p>
        </p:txBody>
      </p:sp>
      <p:sp>
        <p:nvSpPr>
          <p:cNvPr id="80" name="Text 78"/>
          <p:cNvSpPr/>
          <p:nvPr/>
        </p:nvSpPr>
        <p:spPr>
          <a:xfrm>
            <a:off x="12262991" y="4809381"/>
            <a:ext cx="3110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bg-3</a:t>
            </a:r>
            <a:endParaRPr lang="en-US" sz="770" dirty="0"/>
          </a:p>
        </p:txBody>
      </p:sp>
      <p:sp>
        <p:nvSpPr>
          <p:cNvPr id="81" name="Text 79"/>
          <p:cNvSpPr/>
          <p:nvPr/>
        </p:nvSpPr>
        <p:spPr>
          <a:xfrm>
            <a:off x="10367963" y="5057031"/>
            <a:ext cx="4284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accent</a:t>
            </a:r>
            <a:endParaRPr lang="en-US" sz="770" dirty="0"/>
          </a:p>
        </p:txBody>
      </p:sp>
      <p:sp>
        <p:nvSpPr>
          <p:cNvPr id="82" name="Text 80"/>
          <p:cNvSpPr/>
          <p:nvPr/>
        </p:nvSpPr>
        <p:spPr>
          <a:xfrm>
            <a:off x="10320338" y="5371356"/>
            <a:ext cx="280587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spc="6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SPECIMEN SKIN</a:t>
            </a:r>
            <a:endParaRPr lang="en-US" sz="770" dirty="0"/>
          </a:p>
        </p:txBody>
      </p:sp>
      <p:sp>
        <p:nvSpPr>
          <p:cNvPr id="83" name="Shape 81"/>
          <p:cNvSpPr/>
          <p:nvPr/>
        </p:nvSpPr>
        <p:spPr>
          <a:xfrm>
            <a:off x="10320338" y="5584329"/>
            <a:ext cx="406301" cy="209550"/>
          </a:xfrm>
          <a:prstGeom prst="roundRect">
            <a:avLst>
              <a:gd name="adj" fmla="val 22727"/>
            </a:avLst>
          </a:prstGeom>
          <a:solidFill>
            <a:srgbClr val="FF5500"/>
          </a:solidFill>
          <a:ln w="9525">
            <a:solidFill>
              <a:srgbClr val="FF55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367963" y="5631954"/>
            <a:ext cx="3110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770" dirty="0"/>
          </a:p>
        </p:txBody>
      </p:sp>
      <p:sp>
        <p:nvSpPr>
          <p:cNvPr id="85" name="Text 83"/>
          <p:cNvSpPr/>
          <p:nvPr/>
        </p:nvSpPr>
        <p:spPr>
          <a:xfrm>
            <a:off x="10812363" y="5631954"/>
            <a:ext cx="3110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endParaRPr lang="en-US" sz="770" dirty="0"/>
          </a:p>
        </p:txBody>
      </p:sp>
      <p:sp>
        <p:nvSpPr>
          <p:cNvPr id="86" name="Text 84"/>
          <p:cNvSpPr/>
          <p:nvPr/>
        </p:nvSpPr>
        <p:spPr>
          <a:xfrm>
            <a:off x="11256764" y="5631954"/>
            <a:ext cx="25241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</a:t>
            </a:r>
            <a:endParaRPr lang="en-US" sz="770" dirty="0"/>
          </a:p>
        </p:txBody>
      </p:sp>
      <p:sp>
        <p:nvSpPr>
          <p:cNvPr id="87" name="Text 85"/>
          <p:cNvSpPr/>
          <p:nvPr/>
        </p:nvSpPr>
        <p:spPr>
          <a:xfrm>
            <a:off x="11642527" y="5631954"/>
            <a:ext cx="3110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</a:t>
            </a:r>
            <a:endParaRPr lang="en-US" sz="770" dirty="0"/>
          </a:p>
        </p:txBody>
      </p:sp>
      <p:sp>
        <p:nvSpPr>
          <p:cNvPr id="88" name="Text 86"/>
          <p:cNvSpPr/>
          <p:nvPr/>
        </p:nvSpPr>
        <p:spPr>
          <a:xfrm>
            <a:off x="12086927" y="5631954"/>
            <a:ext cx="3110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halo</a:t>
            </a:r>
            <a:endParaRPr lang="en-US" sz="770" dirty="0"/>
          </a:p>
        </p:txBody>
      </p:sp>
      <p:sp>
        <p:nvSpPr>
          <p:cNvPr id="89" name="Text 87"/>
          <p:cNvSpPr/>
          <p:nvPr/>
        </p:nvSpPr>
        <p:spPr>
          <a:xfrm>
            <a:off x="12531328" y="5631954"/>
            <a:ext cx="4284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aurora</a:t>
            </a:r>
            <a:endParaRPr lang="en-US" sz="770" dirty="0"/>
          </a:p>
        </p:txBody>
      </p:sp>
      <p:sp>
        <p:nvSpPr>
          <p:cNvPr id="90" name="Text 88"/>
          <p:cNvSpPr/>
          <p:nvPr/>
        </p:nvSpPr>
        <p:spPr>
          <a:xfrm>
            <a:off x="10367963" y="5879604"/>
            <a:ext cx="36983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glass</a:t>
            </a:r>
            <a:endParaRPr lang="en-US" sz="770" dirty="0"/>
          </a:p>
        </p:txBody>
      </p:sp>
      <p:sp>
        <p:nvSpPr>
          <p:cNvPr id="91" name="Text 89"/>
          <p:cNvSpPr/>
          <p:nvPr/>
        </p:nvSpPr>
        <p:spPr>
          <a:xfrm>
            <a:off x="10320338" y="6193929"/>
            <a:ext cx="280587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spc="6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SURFACE</a:t>
            </a:r>
            <a:endParaRPr lang="en-US" sz="770" dirty="0"/>
          </a:p>
        </p:txBody>
      </p:sp>
      <p:sp>
        <p:nvSpPr>
          <p:cNvPr id="92" name="Shape 90"/>
          <p:cNvSpPr/>
          <p:nvPr/>
        </p:nvSpPr>
        <p:spPr>
          <a:xfrm>
            <a:off x="10320338" y="6406902"/>
            <a:ext cx="582513" cy="209550"/>
          </a:xfrm>
          <a:prstGeom prst="roundRect">
            <a:avLst>
              <a:gd name="adj" fmla="val 22727"/>
            </a:avLst>
          </a:prstGeom>
          <a:solidFill>
            <a:srgbClr val="FF5500"/>
          </a:solidFill>
          <a:ln w="9525">
            <a:solidFill>
              <a:srgbClr val="FF55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367963" y="6454527"/>
            <a:ext cx="4872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770" dirty="0"/>
          </a:p>
        </p:txBody>
      </p:sp>
      <p:sp>
        <p:nvSpPr>
          <p:cNvPr id="94" name="Text 92"/>
          <p:cNvSpPr/>
          <p:nvPr/>
        </p:nvSpPr>
        <p:spPr>
          <a:xfrm>
            <a:off x="10988576" y="6454527"/>
            <a:ext cx="4284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bright</a:t>
            </a:r>
            <a:endParaRPr lang="en-US" sz="770" dirty="0"/>
          </a:p>
        </p:txBody>
      </p:sp>
      <p:sp>
        <p:nvSpPr>
          <p:cNvPr id="95" name="Text 93"/>
          <p:cNvSpPr/>
          <p:nvPr/>
        </p:nvSpPr>
        <p:spPr>
          <a:xfrm>
            <a:off x="11550402" y="6454527"/>
            <a:ext cx="25241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endParaRPr lang="en-US" sz="770" dirty="0"/>
          </a:p>
        </p:txBody>
      </p:sp>
      <p:sp>
        <p:nvSpPr>
          <p:cNvPr id="96" name="Text 94"/>
          <p:cNvSpPr/>
          <p:nvPr/>
        </p:nvSpPr>
        <p:spPr>
          <a:xfrm>
            <a:off x="11936164" y="6454527"/>
            <a:ext cx="3110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</a:t>
            </a:r>
            <a:endParaRPr lang="en-US" sz="770" dirty="0"/>
          </a:p>
        </p:txBody>
      </p:sp>
      <p:sp>
        <p:nvSpPr>
          <p:cNvPr id="97" name="Text 95"/>
          <p:cNvSpPr/>
          <p:nvPr/>
        </p:nvSpPr>
        <p:spPr>
          <a:xfrm>
            <a:off x="10320338" y="6768852"/>
            <a:ext cx="2805875" cy="174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70" spc="62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REDUCED MOTION</a:t>
            </a:r>
            <a:endParaRPr lang="en-US" sz="770" dirty="0"/>
          </a:p>
        </p:txBody>
      </p:sp>
      <p:sp>
        <p:nvSpPr>
          <p:cNvPr id="98" name="Shape 96"/>
          <p:cNvSpPr/>
          <p:nvPr/>
        </p:nvSpPr>
        <p:spPr>
          <a:xfrm>
            <a:off x="10320338" y="6981825"/>
            <a:ext cx="347663" cy="209550"/>
          </a:xfrm>
          <a:prstGeom prst="roundRect">
            <a:avLst>
              <a:gd name="adj" fmla="val 22727"/>
            </a:avLst>
          </a:prstGeom>
          <a:solidFill>
            <a:srgbClr val="FF5500"/>
          </a:solidFill>
          <a:ln w="9525">
            <a:solidFill>
              <a:srgbClr val="FF550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367963" y="7029450"/>
            <a:ext cx="25241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</a:t>
            </a:r>
            <a:endParaRPr lang="en-US" sz="770" dirty="0"/>
          </a:p>
        </p:txBody>
      </p:sp>
      <p:sp>
        <p:nvSpPr>
          <p:cNvPr id="100" name="Text 98"/>
          <p:cNvSpPr/>
          <p:nvPr/>
        </p:nvSpPr>
        <p:spPr>
          <a:xfrm>
            <a:off x="10753725" y="7029450"/>
            <a:ext cx="1936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770" dirty="0"/>
          </a:p>
        </p:txBody>
      </p:sp>
      <p:sp>
        <p:nvSpPr>
          <p:cNvPr id="101" name="Text 99"/>
          <p:cNvSpPr/>
          <p:nvPr/>
        </p:nvSpPr>
        <p:spPr>
          <a:xfrm>
            <a:off x="10365200" y="7429500"/>
            <a:ext cx="263442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70" spc="15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 ALL</a:t>
            </a:r>
            <a:endParaRPr lang="en-US" sz="7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2026-06-03T10:04:48Z</dcterms:created>
  <dcterms:modified xsi:type="dcterms:W3CDTF">2026-06-03T10:04:48Z</dcterms:modified>
</cp:coreProperties>
</file>